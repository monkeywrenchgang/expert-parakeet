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029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Resolution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8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Jack Henry Payment Products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2267712"/>
            <a:ext cx="5943600" cy="0"/>
          </a:xfrm>
          <a:prstGeom prst="line">
            <a:avLst/>
          </a:prstGeom>
          <a:noFill/>
          <a:ln w="25400">
            <a:solidFill>
              <a:srgbClr val="E8A2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231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Entity Resolution: Account · Customer/Member · Household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944368"/>
            <a:ext cx="1417320" cy="310896"/>
          </a:xfrm>
          <a:prstGeom prst="rect">
            <a:avLst>
              <a:gd name="adj" fmla="val 23529"/>
            </a:avLst>
          </a:prstGeom>
          <a:solidFill>
            <a:srgbClr val="1F4F82"/>
          </a:solidFill>
          <a:ln w="12700">
            <a:solidFill>
              <a:srgbClr val="1F4F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944368"/>
            <a:ext cx="1417320" cy="310896"/>
          </a:xfrm>
          <a:prstGeom prst="rect">
            <a:avLst>
              <a:gd name="adj" fmla="val 23529"/>
            </a:avLst>
          </a:prstGeom>
          <a:solidFill>
            <a:srgbClr val="1F4F82"/>
          </a:solidFill>
          <a:ln w="12700">
            <a:solidFill>
              <a:srgbClr val="1F4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v0.2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2944368"/>
            <a:ext cx="1417320" cy="310896"/>
          </a:xfrm>
          <a:prstGeom prst="rect">
            <a:avLst>
              <a:gd name="adj" fmla="val 23529"/>
            </a:avLst>
          </a:prstGeom>
          <a:solidFill>
            <a:srgbClr val="1F4F82"/>
          </a:solidFill>
          <a:ln w="12700">
            <a:solidFill>
              <a:srgbClr val="1F4F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456432"/>
            <a:ext cx="2423160" cy="1417320"/>
          </a:xfrm>
          <a:prstGeom prst="rect">
            <a:avLst/>
          </a:prstGeom>
          <a:solidFill>
            <a:srgbClr val="132B45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" y="4224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Payment-level anchor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3456432"/>
            <a:ext cx="2423160" cy="1417320"/>
          </a:xfrm>
          <a:prstGeom prst="rect">
            <a:avLst/>
          </a:prstGeom>
          <a:solidFill>
            <a:srgbClr val="132B45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22192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Member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22192" y="4224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individual or business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456432"/>
            <a:ext cx="2423160" cy="1417320"/>
          </a:xfrm>
          <a:prstGeom prst="rect">
            <a:avLst/>
          </a:prstGeom>
          <a:solidFill>
            <a:srgbClr val="132B45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48272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48272" y="4224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relationship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Fragmented Identity Across Payment Products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361188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07008"/>
            <a:ext cx="420624" cy="420624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25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Siloed Identity per Product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4942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payment product (ACH, Zelle, Wires, Bill Pay, RDC) maintains its own customer model. The same person has different IDs in every system, and no link between them.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51560"/>
            <a:ext cx="64008" cy="3611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1207008"/>
            <a:ext cx="420624" cy="42062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225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1755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Cross-Product Payment 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24942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reliably answer: 'What payments has this customer made across all JH products?' Same individual may appear 6+ times across SilverLake, ACH, Banno, PayCenter, iPay, Payrailz.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051560"/>
            <a:ext cx="64008" cy="36118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207008"/>
            <a:ext cx="420624" cy="42062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225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1755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JHBI Analytics Blocked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24942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shared identity anchor, unified analytics, fraud detection, and BSA/AML reporting cannot reliably attribute payment activity to a verified individual or household.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4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deterministic identity resolution layer — simple first, extensible later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8229600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2697480" cy="3657600"/>
          </a:xfrm>
          <a:prstGeom prst="rect">
            <a:avLst/>
          </a:prstGeom>
          <a:solidFill>
            <a:srgbClr val="132B45"/>
          </a:solidFill>
          <a:ln w="19050">
            <a:solidFill>
              <a:srgbClr val="0B7A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2697480" cy="1097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716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 Everyone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22128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JH ACCOUNT HOLDERS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24688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parties — originators and destinations — receive identity resolution. JH account holders get full entity profiles; external counterparties get lightweight stubs that can be promoted later.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97480" cy="3657600"/>
          </a:xfrm>
          <a:prstGeom prst="rect">
            <a:avLst/>
          </a:prstGeom>
          <a:solidFill>
            <a:srgbClr val="132B45"/>
          </a:solidFill>
          <a:ln w="19050">
            <a:solidFill>
              <a:srgbClr val="E8A21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188720"/>
            <a:ext cx="269748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3716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64992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Auditable Rules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64992" y="22128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FIRST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64992" y="24688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uses exact-match blocking keys (SSN hash, account+routing token, email/Zelle token). Every match decision is fully explainable with a named rule and confidence score.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97480" cy="3657600"/>
          </a:xfrm>
          <a:prstGeom prst="rect">
            <a:avLst/>
          </a:prstGeom>
          <a:solidFill>
            <a:srgbClr val="132B45"/>
          </a:solidFill>
          <a:ln w="19050">
            <a:solidFill>
              <a:srgbClr val="2D9C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97480" cy="10972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3716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9C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45352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Privacy Tiers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45352" y="22128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+ JH-GLOBAL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45352" y="24688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only see their own data. JH-internal analytics can link the same person across FIs using token-only evidence — no PII ever crosses a tenant boundary.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In-Scope: 9 Jack Henry Payment Products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sources for the IDR system  |  CPS (card issuance) is explicitly excluded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24128"/>
            <a:ext cx="64008" cy="11155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972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 / Symitar Core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481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(anchor)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792224"/>
            <a:ext cx="1005840" cy="219456"/>
          </a:xfrm>
          <a:prstGeom prst="rect">
            <a:avLst>
              <a:gd name="adj" fmla="val 3333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2412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24128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0972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 (EPS / Profitstars)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1481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Credit/Debit, Same-Day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01568" y="1792224"/>
            <a:ext cx="1005840" cy="219456"/>
          </a:xfrm>
          <a:prstGeom prst="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02412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24128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0972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PayCenter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36208" y="1481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RTP, FedNow, Zelle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36208" y="1792224"/>
            <a:ext cx="1005840" cy="219456"/>
          </a:xfrm>
          <a:prstGeom prst="rect">
            <a:avLst>
              <a:gd name="adj" fmla="val 3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249424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249424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3225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Payrailz Platform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P2P, A2A, Bill Pay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017520"/>
            <a:ext cx="1005840" cy="219456"/>
          </a:xfrm>
          <a:prstGeom prst="rect">
            <a:avLst>
              <a:gd name="adj" fmla="val 3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249424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2249424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23225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Wires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01568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FedWire, Corpay/SWIFT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01568" y="3017520"/>
            <a:ext cx="1005840" cy="219456"/>
          </a:xfrm>
          <a:prstGeom prst="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2249424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2249424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23225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iPay Solutions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236208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Pay, CardPay, P2P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36208" y="3017520"/>
            <a:ext cx="1005840" cy="219456"/>
          </a:xfrm>
          <a:prstGeom prst="rect">
            <a:avLst>
              <a:gd name="adj" fmla="val 3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474720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" y="3474720"/>
            <a:ext cx="64008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35478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Check / RDC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3931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21, RDC, Check→ACH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4242816"/>
            <a:ext cx="1005840" cy="219456"/>
          </a:xfrm>
          <a:prstGeom prst="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3474720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0" y="3474720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1568" y="35478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 Platform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401568" y="3931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Transfers, Zelle, Bill Pay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01568" y="4242816"/>
            <a:ext cx="1005840" cy="219456"/>
          </a:xfrm>
          <a:prstGeom prst="rect">
            <a:avLst>
              <a:gd name="adj" fmla="val 3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01568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035040" y="3474720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035040" y="3474720"/>
            <a:ext cx="64008" cy="11155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36208" y="35478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Payment Solutions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236208" y="3931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B2V ACH, Payroll, Remittance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36208" y="4242816"/>
            <a:ext cx="1005840" cy="219456"/>
          </a:xfrm>
          <a:prstGeom prst="rect">
            <a:avLst>
              <a:gd name="adj" fmla="val 3333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36208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1–2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solidFill>
            <a:srgbClr val="FCE8E8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CPS (Card Processing Solutions) is excluded from scope — card issuance data and ATM/ITM driving are out of scope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Entity Model: Three Types + Two Tiers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621792"/>
          </a:xfrm>
          <a:prstGeom prst="rect">
            <a:avLst/>
          </a:prstGeom>
          <a:solidFill>
            <a:srgbClr val="EBF0FB"/>
          </a:solidFill>
          <a:ln w="190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JH-Global  idr_global_person_id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624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/ JHBI analytics only — no FI can see this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114800" cy="0"/>
          </a:xfrm>
          <a:prstGeom prst="line">
            <a:avLst/>
          </a:prstGeom>
          <a:noFill/>
          <a:ln w="19050">
            <a:solidFill>
              <a:srgbClr val="1C4E8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2296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FI TENANT BOUNDARY ──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4114800" cy="621792"/>
          </a:xfrm>
          <a:prstGeom prst="rect">
            <a:avLst/>
          </a:prstGeom>
          <a:solidFill>
            <a:srgbClr val="E8F0FB"/>
          </a:solidFill>
          <a:ln w="19050">
            <a:solidFill>
              <a:srgbClr val="2D9C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 (1 per FI)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225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individuals by joint account or shared address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2615184"/>
            <a:ext cx="0" cy="274320"/>
          </a:xfrm>
          <a:prstGeom prst="line">
            <a:avLst/>
          </a:prstGeom>
          <a:noFill/>
          <a:ln w="19050">
            <a:solidFill>
              <a:srgbClr val="C5D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89504"/>
            <a:ext cx="4114800" cy="621792"/>
          </a:xfrm>
          <a:prstGeom prst="rect">
            <a:avLst/>
          </a:prstGeom>
          <a:solidFill>
            <a:srgbClr val="E8F0FB"/>
          </a:solidFill>
          <a:ln w="19050">
            <a:solidFill>
              <a:srgbClr val="1C4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626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Member  (1..N per household)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21868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or BUSINESS  ·  Full or External Profile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3511296"/>
            <a:ext cx="0" cy="274320"/>
          </a:xfrm>
          <a:prstGeom prst="line">
            <a:avLst/>
          </a:prstGeom>
          <a:noFill/>
          <a:ln w="19050">
            <a:solidFill>
              <a:srgbClr val="C5D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785616"/>
            <a:ext cx="4114800" cy="621792"/>
          </a:xfrm>
          <a:prstGeom prst="rect">
            <a:avLst/>
          </a:prstGeom>
          <a:solidFill>
            <a:srgbClr val="E8F0FB"/>
          </a:solidFill>
          <a:ln w="1905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58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(1..N per customer)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payment-eligible unit — DDA, ACH, Wire, External…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Attributes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13898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389888"/>
            <a:ext cx="64008" cy="40233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1417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idr_customer_id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92624" y="15910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UUID — per FI, stable forever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8470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847088"/>
            <a:ext cx="64008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1874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idr_global_person_id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92624" y="20482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JH-wide link (token-only, internal)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3042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304288"/>
            <a:ext cx="64008" cy="40233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23317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entity_type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92624" y="25054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/ BUSINESS / TRUST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7614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2761488"/>
            <a:ext cx="64008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2788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profile_completeness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92624" y="29626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(JH holder) · EXTERNAL · BILLER · MERCHANT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2186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218688"/>
            <a:ext cx="64008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92624" y="3246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ssn_tin_hash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92624" y="34198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SHA-256 — never stored in plaintext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6758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3675888"/>
            <a:ext cx="64008" cy="40233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92624" y="3703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email_tokens[ ]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92624" y="38770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HMAC — cannot match cross-tenant by design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41330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4133088"/>
            <a:ext cx="64008" cy="402336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92624" y="4160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resolution_method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92624" y="43342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EXACT_SSN · EXACT_ACCOUNT · EXACT_EMAIL · …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5902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4590288"/>
            <a:ext cx="64008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92624" y="46177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92624" y="47914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0–1  matched to Tier 1–5 buckets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 Layer: Originator &amp; Destination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resolves both parties independently on every payment event — regardless of whether they are a JH account holder or an external counterparty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097280"/>
            <a:ext cx="2194560" cy="16916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325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19933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· Amount · Direction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Timestamp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97280"/>
            <a:ext cx="64008" cy="35661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5361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that initiates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sends the payment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1993392"/>
            <a:ext cx="242316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103120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0665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Routing Token  (BK-2)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2523744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4871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/ TIN Hash  (BK-1)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2944368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907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Token  (BK-3)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" y="3364992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3284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Zelle Token  (BK-4)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" y="3785616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749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CIF / Source ID  (BK-5)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" y="4206240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169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Code → entity_type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17520" y="1947672"/>
            <a:ext cx="45720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1901952"/>
            <a:ext cx="128016" cy="914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097280"/>
            <a:ext cx="64008" cy="356616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81928" y="15361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that receives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81928" y="1993392"/>
            <a:ext cx="242316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81928" y="2103120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4808" y="20665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FI Account Holder → Full resolution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81928" y="2596896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Counterparty → Lightweight stub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81928" y="3090672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64808" y="30540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Biller / Merchant → entity_type=BUSINESS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81928" y="3584448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35478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Beneficiary → SWIFT BIC + IBAN token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81928" y="4078224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4808" y="4041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Open-Loop P2P → email or phone token only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0" y="1947672"/>
            <a:ext cx="457200" cy="0"/>
          </a:xfrm>
          <a:prstGeom prst="line">
            <a:avLst/>
          </a:prstGeom>
          <a:noFill/>
          <a:ln w="25400">
            <a:solidFill>
              <a:srgbClr val="2D9C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16752" y="1901952"/>
            <a:ext cx="128016" cy="9144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solidFill>
            <a:srgbClr val="E8F0FB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7457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SEC Code inference: PPD / WEB / TEL → INDIVIDUAL  ·  CCD / CTX → BUSINESS  ·  ARC / POP / BOC → INDIVIDUAL (check conversion)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4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Blocking &amp; Bucketing: The Core Mechanism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8229600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2331720"/>
          </a:xfrm>
          <a:prstGeom prst="rect">
            <a:avLst/>
          </a:prstGeom>
          <a:solidFill>
            <a:srgbClr val="132B45"/>
          </a:solidFill>
          <a:ln w="19050">
            <a:solidFill>
              <a:srgbClr val="0B7A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1097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candidate records for comparison without O(N²) cost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10512"/>
            <a:ext cx="118872" cy="11887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739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pair is only compared if they share at least one Blocking Key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118872" cy="11887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311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Blocking Keys (BK-1→8): SSN hash, account+routing, email token, phone/Zelle, core CIF, name+zip, SWIFT BIC, PAN token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118872" cy="11887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6883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BK-6 (Name+Zip) is never used as a standalone key — must accompany a stronger signal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2130552"/>
            <a:ext cx="502920" cy="0"/>
          </a:xfrm>
          <a:prstGeom prst="line">
            <a:avLst/>
          </a:prstGeom>
          <a:noFill/>
          <a:ln w="25400">
            <a:solidFill>
              <a:srgbClr val="E8A21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2084832"/>
            <a:ext cx="128016" cy="91440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960120"/>
            <a:ext cx="3931920" cy="2331720"/>
          </a:xfrm>
          <a:prstGeom prst="rect">
            <a:avLst/>
          </a:prstGeom>
          <a:solidFill>
            <a:srgbClr val="132B45"/>
          </a:solidFill>
          <a:ln w="19050">
            <a:solidFill>
              <a:srgbClr val="E8A21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960120"/>
            <a:ext cx="393192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115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BUCKETING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8348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confidence tier to the match based on which key produced 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1810512"/>
            <a:ext cx="118872" cy="11887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17739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tiers: DEFINITIVE (SSN) → HIGH → VERIFIED → INFERRED → UNRESOLVED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83480" y="2267712"/>
            <a:ext cx="118872" cy="11887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22311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governs auto-action: auto-merge, auto-stub, or manual review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2724912"/>
            <a:ext cx="118872" cy="11887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26883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to match_decision_log — training corpus for future probabilistic (Phase 3)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8912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417320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18488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36776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91640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70048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71216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9504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944368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Keys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922776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23944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42232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197096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75504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76672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49824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28232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29400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47688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702552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680960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82128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00416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955280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Write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Event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 Confidence Tiers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blocking key maps to a tier that governs the auto-action taken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475488" cy="731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3385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1225296"/>
            <a:ext cx="1097280" cy="329184"/>
          </a:xfrm>
          <a:prstGeom prst="rect">
            <a:avLst>
              <a:gd name="adj" fmla="val 22222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252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76272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BK-1: SSN / TIN Hash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76272" y="1389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SSN hash match within FI. Strongest possible signal. No review required.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207008"/>
            <a:ext cx="2697480" cy="365760"/>
          </a:xfrm>
          <a:prstGeom prst="rect">
            <a:avLst>
              <a:gd name="adj" fmla="val 20000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2070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1965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819656"/>
            <a:ext cx="475488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29384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2020824"/>
            <a:ext cx="1097280" cy="329184"/>
          </a:xfrm>
          <a:prstGeom prst="rect">
            <a:avLst>
              <a:gd name="adj" fmla="val 222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0208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0.90–0.99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76272" y="1874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BK-2: Acct+Routing Token  |  BK-5: Core CIF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76272" y="21854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account continuity or core platform customer ID match.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2002536"/>
            <a:ext cx="2697480" cy="365760"/>
          </a:xfrm>
          <a:prstGeom prst="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0025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615184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615184"/>
            <a:ext cx="475488" cy="7315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72491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14400" y="2816352"/>
            <a:ext cx="1097280" cy="329184"/>
          </a:xfrm>
          <a:prstGeom prst="rect">
            <a:avLst>
              <a:gd name="adj" fmla="val 22222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28163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0.85–0.92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76272" y="2670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BK-3: Email Token  |  BK-4: Phone/Zelle Token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76272" y="29809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email/phone. Auto-merge if no conflict; route to review if SSN mismatch.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2798064"/>
            <a:ext cx="2697480" cy="365760"/>
          </a:xfrm>
          <a:prstGeom prst="rect">
            <a:avLst>
              <a:gd name="adj" fmla="val 20000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7980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 or REVIEW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41071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410712"/>
            <a:ext cx="475488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52044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T4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14400" y="3611880"/>
            <a:ext cx="1097280" cy="329184"/>
          </a:xfrm>
          <a:prstGeom prst="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36118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0.65–0.84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76272" y="3465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BK-6: Name + Zip5 + secondary signal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176272" y="3776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auto-merge into FULL entities. Create stub; log for Phase 3 ML training.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35040" y="3593592"/>
            <a:ext cx="2697480" cy="365760"/>
          </a:xfrm>
          <a:prstGeom prst="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35935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STUB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206240"/>
            <a:ext cx="475488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31596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T5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914400" y="4407408"/>
            <a:ext cx="1097280" cy="329184"/>
          </a:xfrm>
          <a:prstGeom prst="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44074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0.65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76272" y="4261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 key match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176272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EXTERNAL_STUB with available signals. No entity link created.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035040" y="4389120"/>
            <a:ext cx="2697480" cy="365760"/>
          </a:xfrm>
          <a:prstGeom prst="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0" y="4389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STUB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Blocking Keys: What They Are and Where They Come From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64008" cy="89611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115568"/>
            <a:ext cx="658368" cy="274320"/>
          </a:xfrm>
          <a:prstGeom prst="rect">
            <a:avLst>
              <a:gd name="adj" fmla="val 26667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115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43584" y="1115568"/>
            <a:ext cx="640080" cy="274320"/>
          </a:xfrm>
          <a:prstGeom prst="rect">
            <a:avLst>
              <a:gd name="adj" fmla="val 26667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1115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1426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/ TIN Hash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SHA-256(SSN or EIN) + fi_id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029968"/>
            <a:ext cx="640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" y="2121408"/>
            <a:ext cx="658368" cy="274320"/>
          </a:xfrm>
          <a:prstGeom prst="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121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43584" y="2121408"/>
            <a:ext cx="640080" cy="274320"/>
          </a:xfrm>
          <a:prstGeom prst="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3584" y="2121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" y="2432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Routing Token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FPE(account_number) + routing_number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35808"/>
            <a:ext cx="64008" cy="89611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" y="3127248"/>
            <a:ext cx="658368" cy="274320"/>
          </a:xfrm>
          <a:prstGeom prst="rect">
            <a:avLst>
              <a:gd name="adj" fmla="val 2666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1272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43584" y="3127248"/>
            <a:ext cx="640080" cy="274320"/>
          </a:xfrm>
          <a:prstGeom prst="rect">
            <a:avLst>
              <a:gd name="adj" fmla="val 2666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43584" y="3127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" y="34381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Token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HMAC-SHA256(email, per-FI salt)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04164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041648"/>
            <a:ext cx="64008" cy="89611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" y="4133088"/>
            <a:ext cx="658368" cy="274320"/>
          </a:xfrm>
          <a:prstGeom prst="rect">
            <a:avLst>
              <a:gd name="adj" fmla="val 2666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4133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243584" y="4133088"/>
            <a:ext cx="640080" cy="274320"/>
          </a:xfrm>
          <a:prstGeom prst="rect">
            <a:avLst>
              <a:gd name="adj" fmla="val 2666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43584" y="4133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" y="4443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Zelle Token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064" y="4681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HMAC-SHA256(E.164 phone, per-FI salt); Zelle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102412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1024128"/>
            <a:ext cx="640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55464" y="1115568"/>
            <a:ext cx="658368" cy="274320"/>
          </a:xfrm>
          <a:prstGeom prst="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5464" y="1115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86984" y="1115568"/>
            <a:ext cx="640080" cy="274320"/>
          </a:xfrm>
          <a:prstGeom prst="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86984" y="1115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55464" y="1426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CIF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55464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source_system + source_customer_id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202996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2029968"/>
            <a:ext cx="6400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55464" y="2121408"/>
            <a:ext cx="658368" cy="274320"/>
          </a:xfrm>
          <a:prstGeom prst="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2121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586984" y="2121408"/>
            <a:ext cx="640080" cy="274320"/>
          </a:xfrm>
          <a:prstGeom prst="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6984" y="2121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55464" y="2432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Zip5  ⚠ secondary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855464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name_normalized + zip5 postal code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09160" y="303580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09160" y="3035808"/>
            <a:ext cx="6400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55464" y="3127248"/>
            <a:ext cx="658368" cy="274320"/>
          </a:xfrm>
          <a:prstGeom prst="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55464" y="31272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BK-7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586984" y="3127248"/>
            <a:ext cx="640080" cy="274320"/>
          </a:xfrm>
          <a:prstGeom prst="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86984" y="3127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55464" y="34381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BIC + Account Token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855464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BIC + FPE(IBAN or foreign account)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09160" y="404164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09160" y="4041648"/>
            <a:ext cx="64008" cy="8961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55464" y="4133088"/>
            <a:ext cx="658368" cy="274320"/>
          </a:xfrm>
          <a:prstGeom prst="rect">
            <a:avLst>
              <a:gd name="adj" fmla="val 2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55464" y="4133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BK-8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586984" y="4133088"/>
            <a:ext cx="640080" cy="274320"/>
          </a:xfrm>
          <a:prstGeom prst="rect">
            <a:avLst>
              <a:gd name="adj" fmla="val 2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86984" y="4133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855464" y="4443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PAN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855464" y="4681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Card-network token (acquisition side only)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Two-Tier Architecture: FI-Scoped + JH-Global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resolution always  ·  JH-global linking only when warranted by BK-1 or BK-2 signals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8412480" cy="1645920"/>
          </a:xfrm>
          <a:prstGeom prst="rect">
            <a:avLst/>
          </a:prstGeom>
          <a:solidFill>
            <a:srgbClr val="E8F0FB"/>
          </a:solidFill>
          <a:ln w="19050">
            <a:solidFill>
              <a:srgbClr val="1C4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JH-GLOBAL TIER  (Internal / JHBI only — never exposed to FIs)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idr_global_person_id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09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table only — no PII, no data copied from any FI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115568"/>
            <a:ext cx="1463040" cy="292608"/>
          </a:xfrm>
          <a:prstGeom prst="rect">
            <a:avLst>
              <a:gd name="adj" fmla="val 25000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115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BK-1  SSN hash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1463040" cy="292608"/>
          </a:xfrm>
          <a:prstGeom prst="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463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BK-2  Acct token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810512"/>
            <a:ext cx="1463040" cy="292608"/>
          </a:xfrm>
          <a:prstGeom prst="rect">
            <a:avLst>
              <a:gd name="adj" fmla="val 2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810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BK-3/4 email/phone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1115568"/>
            <a:ext cx="1280160" cy="292608"/>
          </a:xfrm>
          <a:prstGeom prst="rect">
            <a:avLst>
              <a:gd name="adj" fmla="val 25000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1155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Permitted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60920" y="1463040"/>
            <a:ext cx="1280160" cy="292608"/>
          </a:xfrm>
          <a:prstGeom prst="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463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Permitted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0920" y="1810512"/>
            <a:ext cx="1280160" cy="292608"/>
          </a:xfrm>
          <a:prstGeom prst="rect">
            <a:avLst>
              <a:gd name="adj" fmla="val 2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Cross-FI excl.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841248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371600" y="26334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TENANT BOUNDARY — no FI-to-FI data access permitted below this 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862072"/>
            <a:ext cx="39319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4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62072"/>
            <a:ext cx="3931920" cy="329184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898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FI-A  (e.g., First National Bank)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32552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customer entity  idr_customer_id = UUID-A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" y="3675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Resolution: BK-1 through BK-6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352" y="40965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idr_global_person_id populated by JHBI process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0352" y="45171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returns FI-A data only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862072"/>
            <a:ext cx="39319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4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862072"/>
            <a:ext cx="3931920" cy="329184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898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FI-B  (e.g., Community Credit Union)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10912" y="32552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Same person, different entity  idr_customer_id = UUID-B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10912" y="3675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Resolution: BK-1 through BK-6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10912" y="40965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idr_global_person_id = same UUID as FI-A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10912" y="45171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returns FI-B data only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Architecture: 5-Layer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005840" cy="7315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15214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078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Adapters (1 per JH product) → Event Bus consumer.  Normalize, validate, forward to IdentityEvent schema.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10512"/>
            <a:ext cx="1005840" cy="7315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2024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" y="19568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VAULT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18836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PII Vault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176272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Service.  FPE (account numbers) · SHA-256 (SSN/TIN) · HMAC (email/phone).  No plaintext stored downstream.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15184"/>
            <a:ext cx="1005840" cy="731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2491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276148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26883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Resolution Engine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2980944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Key Deriver → Candidate Generator (Redis O(1)) → Bucket Evaluator → Decision Engine.  Stateless, horizontally scalable.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41985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19856"/>
            <a:ext cx="10058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29584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" y="356616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3493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Store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3785616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Entity DB (PostgreSQL, temporal tables, RLS) · Resolution Index (Redis) · Global Link Index (JHBI internal).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224528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224528"/>
            <a:ext cx="1005840" cy="731520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33425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1792" y="437083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API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63040" y="4297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API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63040" y="4590288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FI-facing REST + GraphQL (FI-scoped, OAuth). JHBI Internal API (global-scoped, idr:global:read scope). Kafka change-event topic.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5084064"/>
            <a:ext cx="8412480" cy="0"/>
          </a:xfrm>
          <a:prstGeom prst="rect">
            <a:avLst/>
          </a:prstGeom>
          <a:solidFill>
            <a:srgbClr val="F0F5FC"/>
          </a:solidFill>
          <a:ln w="12700">
            <a:solidFill>
              <a:srgbClr val="F0F5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194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Kotlin/Spring Boot  ·  PostgreSQL 15+  ·  Redis  ·  Apache Kafka  ·  HashiCorp Vault  ·  OpenTelemetry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Phasing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229600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32688"/>
            <a:ext cx="8412480" cy="128016"/>
          </a:xfrm>
          <a:prstGeom prst="rect">
            <a:avLst/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914400"/>
            <a:ext cx="164592" cy="16459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0B7A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52144"/>
            <a:ext cx="2011680" cy="1097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Core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" y="1938528"/>
            <a:ext cx="1737360" cy="256032"/>
          </a:xfrm>
          <a:prstGeom prst="rect">
            <a:avLst>
              <a:gd name="adj" fmla="val 28571"/>
            </a:avLst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eng-weeks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" y="234086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schema + PII Vault (FPE + per-FI HMAC + SHA-256)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" y="284378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Engine: BK-1–5, Tier 1–5 auto-actions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" y="334670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 + ACH adapters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" y="384962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global linking (JHBI internal)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" y="435254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06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REST Query API + audit logging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19272" y="914400"/>
            <a:ext cx="164592" cy="16459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42032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2D9C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42032" y="1152144"/>
            <a:ext cx="2011680" cy="10972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0048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70048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Adapters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70048" y="1938528"/>
            <a:ext cx="1737360" cy="256032"/>
          </a:xfrm>
          <a:prstGeom prst="rect">
            <a:avLst>
              <a:gd name="adj" fmla="val 28571"/>
            </a:avLst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0048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~8–10 eng-weeks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70048" y="234086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6352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PayCenter: RTP, FedNow, Zelle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70048" y="284378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Payrailz: P2P, A2A, Bill Pay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70048" y="334670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16352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Wires: domestic + intl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70048" y="384962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16352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iPay, Banno, Business Payment Solutions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70048" y="435254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16352" y="4306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Check/RDC + Tap2Local (Tier-5 stubs)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95544" y="914400"/>
            <a:ext cx="164592" cy="16459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18304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E8A21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18304" y="1152144"/>
            <a:ext cx="201168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Matching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846320" y="1938528"/>
            <a:ext cx="1737360" cy="256032"/>
          </a:xfrm>
          <a:prstGeom prst="rect">
            <a:avLst>
              <a:gd name="adj" fmla="val 28571"/>
            </a:avLst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~10–12 eng-weeks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234086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92624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 on match_decision_log corpus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0" y="284378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92624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scorer replaces Tier-4 rules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46320" y="334670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92624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shadow pipeline before promotion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46320" y="384962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92624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confidence threshold tuning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46320" y="435254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92624" y="4306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external counterparty resolution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671816" y="914400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94576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94576" y="1152144"/>
            <a:ext cx="201168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22592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022592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Enrichment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022592" y="1938528"/>
            <a:ext cx="1737360" cy="256032"/>
          </a:xfrm>
          <a:prstGeom prst="rect">
            <a:avLst>
              <a:gd name="adj" fmla="val 28571"/>
            </a:avLst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22592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022592" y="234086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68896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household formation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022592" y="284378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68896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Age graph migration (if warranted)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022592" y="334670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68896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data ingestion (if available)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022592" y="384962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68896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bureau enrichment (opt-in)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Decisions &amp; Open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35024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Resolve all payment parties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6550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JH account holders — all originators and destinations get at least an External Profile stub.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31136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Biller/Merchant = BUSINESS entity_type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5511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4th entity type needed. Billers and merchants resolved as Customer/Member with entity_type=BUSINESS.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2724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27248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182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Two-tier identity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4472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(external API) + JH-global link table (JHBI internal, token-only, no PII crossing tenant boundary).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023360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Email/phone NOT cross-FI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43434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HMAC salts prevent cross-tenant email/phone matching by design. Only SSN hash and account tokens link cross-FI.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(decisions needed)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33502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335024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389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0096" y="13716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SSN available in plaintext from SilverLake CDC, or pre-hashed? Who owns the hashing process?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40096" y="175564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Eng / Security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08483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084832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1396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0096" y="21214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pilot: which FIs and which products are in scope for Phase 1?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0096" y="250545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8346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834640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28895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0096" y="287121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formation: opt-in or opt-out per FI?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40096" y="325526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 / Legal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5844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584448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6393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40096" y="36210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SLO: near-real-time (&lt; 500ms) or eventual consistency acceptable?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40096" y="400507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 / Eng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43342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4334256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4389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40096" y="437083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Tap2Local: can we obtain card-network tokens from Moov to enable cross-transaction linking?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40096" y="475488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Eng / Tap2Local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Next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4572000" cy="0"/>
          </a:xfrm>
          <a:prstGeom prst="line">
            <a:avLst/>
          </a:prstGeom>
          <a:noFill/>
          <a:ln w="25400">
            <a:solidFill>
              <a:srgbClr val="E8A2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14447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2984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open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5910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handling, pilot FI selection, household opt-in policy, and latency SLO — target decisions by end of sprint.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97280" y="23591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2128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Phase 1 backlog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5054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design document into epics and stories. Size and prioritize for next quarter planning.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97280" y="32735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1272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design doc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4198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Document v0.2 is complete and available. Next: team review and sign-off session.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97280" y="41879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4041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presentation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334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— share with broader product and leadership stakeholders for awareness and feedback.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Identity Resolution for Payment Products  ·  DRAFT v0.2  · 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 Identity Resolution – Payment Products</dc:title>
  <dc:subject>PptxGenJS Presentation</dc:subject>
  <dc:creator>JHBI</dc:creator>
  <cp:lastModifiedBy>JHBI</cp:lastModifiedBy>
  <cp:revision>1</cp:revision>
  <dcterms:created xsi:type="dcterms:W3CDTF">2026-02-23T16:15:03Z</dcterms:created>
  <dcterms:modified xsi:type="dcterms:W3CDTF">2026-02-23T16:15:03Z</dcterms:modified>
</cp:coreProperties>
</file>